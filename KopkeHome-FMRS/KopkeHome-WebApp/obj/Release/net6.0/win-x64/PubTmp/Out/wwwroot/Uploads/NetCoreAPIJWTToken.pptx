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6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55" r:id="rId1"/>
    <p:sldMasterId id="2147483798" r:id="rId2"/>
    <p:sldMasterId id="2147483734" r:id="rId3"/>
    <p:sldMasterId id="2147483741" r:id="rId4"/>
    <p:sldMasterId id="2147483748" r:id="rId5"/>
    <p:sldMasterId id="2147483758" r:id="rId6"/>
    <p:sldMasterId id="2147483869" r:id="rId7"/>
  </p:sldMasterIdLst>
  <p:notesMasterIdLst>
    <p:notesMasterId r:id="rId31"/>
  </p:notesMasterIdLst>
  <p:sldIdLst>
    <p:sldId id="353" r:id="rId8"/>
    <p:sldId id="360" r:id="rId9"/>
    <p:sldId id="367" r:id="rId10"/>
    <p:sldId id="435" r:id="rId11"/>
    <p:sldId id="450" r:id="rId12"/>
    <p:sldId id="452" r:id="rId13"/>
    <p:sldId id="464" r:id="rId14"/>
    <p:sldId id="465" r:id="rId15"/>
    <p:sldId id="466" r:id="rId16"/>
    <p:sldId id="455" r:id="rId17"/>
    <p:sldId id="442" r:id="rId18"/>
    <p:sldId id="443" r:id="rId19"/>
    <p:sldId id="463" r:id="rId20"/>
    <p:sldId id="444" r:id="rId21"/>
    <p:sldId id="446" r:id="rId22"/>
    <p:sldId id="445" r:id="rId23"/>
    <p:sldId id="461" r:id="rId24"/>
    <p:sldId id="462" r:id="rId25"/>
    <p:sldId id="457" r:id="rId26"/>
    <p:sldId id="458" r:id="rId27"/>
    <p:sldId id="436" r:id="rId28"/>
    <p:sldId id="432" r:id="rId29"/>
    <p:sldId id="41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A75E1C-CFE0-42AA-BC7F-739BEDB7EB9C}">
          <p14:sldIdLst>
            <p14:sldId id="353"/>
            <p14:sldId id="360"/>
            <p14:sldId id="367"/>
          </p14:sldIdLst>
        </p14:section>
        <p14:section name="Untitled Section" id="{81994F70-6CCD-47C9-852F-E84AACA5A171}">
          <p14:sldIdLst>
            <p14:sldId id="435"/>
            <p14:sldId id="450"/>
            <p14:sldId id="452"/>
            <p14:sldId id="464"/>
            <p14:sldId id="465"/>
            <p14:sldId id="466"/>
            <p14:sldId id="455"/>
            <p14:sldId id="442"/>
            <p14:sldId id="443"/>
            <p14:sldId id="463"/>
            <p14:sldId id="444"/>
            <p14:sldId id="446"/>
            <p14:sldId id="445"/>
            <p14:sldId id="461"/>
            <p14:sldId id="462"/>
            <p14:sldId id="457"/>
            <p14:sldId id="458"/>
            <p14:sldId id="436"/>
            <p14:sldId id="432"/>
            <p14:sldId id="4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1E57"/>
    <a:srgbClr val="E98620"/>
    <a:srgbClr val="FFEB8E"/>
    <a:srgbClr val="48BAE7"/>
    <a:srgbClr val="FFFFFF"/>
    <a:srgbClr val="000000"/>
    <a:srgbClr val="46B4B2"/>
    <a:srgbClr val="009C90"/>
    <a:srgbClr val="FFC000"/>
    <a:srgbClr val="BDC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96" autoAdjust="0"/>
    <p:restoredTop sz="87993" autoAdjust="0"/>
  </p:normalViewPr>
  <p:slideViewPr>
    <p:cSldViewPr snapToGrid="0">
      <p:cViewPr varScale="1">
        <p:scale>
          <a:sx n="64" d="100"/>
          <a:sy n="64" d="100"/>
        </p:scale>
        <p:origin x="504" y="2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355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heme" Target="theme/theme1.xml"/><Relationship Id="rId8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90FE3-7537-4D15-A9F5-FDF1805FD5F8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C67A6-C0E7-47DF-97C2-CA9B112753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12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EEC66-7BF3-4CAD-9E14-6F7448A6E41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32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Variables, Operators &amp; Loops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EEC66-7BF3-4CAD-9E14-6F7448A6E41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75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8C67A6-C0E7-47DF-97C2-CA9B1127539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94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C67A6-C0E7-47DF-97C2-CA9B1127539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80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/>
              <a:t>ASP .NET 5.0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EEC66-7BF3-4CAD-9E14-6F7448A6E41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71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Topics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EEC66-7BF3-4CAD-9E14-6F7448A6E41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3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638425" y="5517221"/>
            <a:ext cx="5013325" cy="102686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Title/role</a:t>
            </a:r>
          </a:p>
        </p:txBody>
      </p:sp>
    </p:spTree>
    <p:extLst>
      <p:ext uri="{BB962C8B-B14F-4D97-AF65-F5344CB8AC3E}">
        <p14:creationId xmlns:p14="http://schemas.microsoft.com/office/powerpoint/2010/main" val="3038304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017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638425" y="5517221"/>
            <a:ext cx="5013325" cy="1026863"/>
          </a:xfrm>
        </p:spPr>
        <p:txBody>
          <a:bodyPr/>
          <a:lstStyle>
            <a:lvl1pPr>
              <a:defRPr>
                <a:solidFill>
                  <a:srgbClr val="3C454F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Title/role</a:t>
            </a:r>
          </a:p>
        </p:txBody>
      </p:sp>
    </p:spTree>
    <p:extLst>
      <p:ext uri="{BB962C8B-B14F-4D97-AF65-F5344CB8AC3E}">
        <p14:creationId xmlns:p14="http://schemas.microsoft.com/office/powerpoint/2010/main" val="62634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1D43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638425" y="5517221"/>
            <a:ext cx="5013325" cy="1026863"/>
          </a:xfrm>
        </p:spPr>
        <p:txBody>
          <a:bodyPr/>
          <a:lstStyle>
            <a:lvl1pPr>
              <a:defRPr>
                <a:solidFill>
                  <a:srgbClr val="289FD7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Title/role</a:t>
            </a:r>
          </a:p>
        </p:txBody>
      </p:sp>
    </p:spTree>
    <p:extLst>
      <p:ext uri="{BB962C8B-B14F-4D97-AF65-F5344CB8AC3E}">
        <p14:creationId xmlns:p14="http://schemas.microsoft.com/office/powerpoint/2010/main" val="9910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rgbClr val="617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638425" y="5517221"/>
            <a:ext cx="5013325" cy="1026863"/>
          </a:xfrm>
        </p:spPr>
        <p:txBody>
          <a:bodyPr/>
          <a:lstStyle>
            <a:lvl1pPr>
              <a:defRPr>
                <a:solidFill>
                  <a:srgbClr val="BDCD2C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Title/role</a:t>
            </a:r>
          </a:p>
        </p:txBody>
      </p:sp>
    </p:spTree>
    <p:extLst>
      <p:ext uri="{BB962C8B-B14F-4D97-AF65-F5344CB8AC3E}">
        <p14:creationId xmlns:p14="http://schemas.microsoft.com/office/powerpoint/2010/main" val="127618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>
                <a:solidFill>
                  <a:srgbClr val="289FD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638425" y="5517221"/>
            <a:ext cx="5013325" cy="1026863"/>
          </a:xfrm>
        </p:spPr>
        <p:txBody>
          <a:bodyPr/>
          <a:lstStyle>
            <a:lvl1pPr>
              <a:defRPr>
                <a:solidFill>
                  <a:srgbClr val="289FD7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Title/role</a:t>
            </a:r>
          </a:p>
        </p:txBody>
      </p:sp>
    </p:spTree>
    <p:extLst>
      <p:ext uri="{BB962C8B-B14F-4D97-AF65-F5344CB8AC3E}">
        <p14:creationId xmlns:p14="http://schemas.microsoft.com/office/powerpoint/2010/main" val="106916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0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4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88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38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22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44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52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30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54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3C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175" y="1122363"/>
            <a:ext cx="11034445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175" y="3602038"/>
            <a:ext cx="11034445" cy="1655762"/>
          </a:xfrm>
        </p:spPr>
        <p:txBody>
          <a:bodyPr>
            <a:normAutofit/>
          </a:bodyPr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474333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C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89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798" y="2111604"/>
            <a:ext cx="11079822" cy="3980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60388" y="1534096"/>
            <a:ext cx="11080750" cy="43759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 cap="all" baseline="0"/>
            </a:lvl1pPr>
            <a:lvl5pPr>
              <a:defRPr/>
            </a:lvl5pPr>
          </a:lstStyle>
          <a:p>
            <a:pPr lvl="0"/>
            <a:r>
              <a:rPr lang="en-US" dirty="0"/>
              <a:t>Secondary refining headline</a:t>
            </a:r>
          </a:p>
        </p:txBody>
      </p:sp>
    </p:spTree>
    <p:extLst>
      <p:ext uri="{BB962C8B-B14F-4D97-AF65-F5344CB8AC3E}">
        <p14:creationId xmlns:p14="http://schemas.microsoft.com/office/powerpoint/2010/main" val="13230661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3C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77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798" y="416497"/>
            <a:ext cx="11079822" cy="92211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22313139"/>
              </p:ext>
            </p:extLst>
          </p:nvPr>
        </p:nvGraphicFramePr>
        <p:xfrm>
          <a:off x="584200" y="1476596"/>
          <a:ext cx="11056420" cy="43203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6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435">
                <a:tc>
                  <a:txBody>
                    <a:bodyPr/>
                    <a:lstStyle/>
                    <a:p>
                      <a:r>
                        <a:rPr lang="en-US" sz="2000" dirty="0"/>
                        <a:t>Heading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9F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Heading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9F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Heading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9F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Heading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9F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r>
                        <a:rPr lang="en-US" sz="1600" dirty="0"/>
                        <a:t>Content</a:t>
                      </a:r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934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3C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03414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987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3C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538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3C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798" y="457199"/>
            <a:ext cx="4211227" cy="1936679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457432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798" y="2604070"/>
            <a:ext cx="4211227" cy="326491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425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D43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175" y="1122363"/>
            <a:ext cx="11034445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175" y="3602038"/>
            <a:ext cx="11034445" cy="1655762"/>
          </a:xfrm>
        </p:spPr>
        <p:txBody>
          <a:bodyPr>
            <a:normAutofit/>
          </a:bodyPr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069609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1D43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76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798" y="2111604"/>
            <a:ext cx="11079822" cy="3980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60388" y="1534096"/>
            <a:ext cx="11080750" cy="43759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 cap="all" baseline="0"/>
            </a:lvl1pPr>
            <a:lvl5pPr>
              <a:defRPr/>
            </a:lvl5pPr>
          </a:lstStyle>
          <a:p>
            <a:pPr lvl="0"/>
            <a:r>
              <a:rPr lang="en-US" dirty="0"/>
              <a:t>Secondary refining headline</a:t>
            </a:r>
          </a:p>
        </p:txBody>
      </p:sp>
    </p:spTree>
    <p:extLst>
      <p:ext uri="{BB962C8B-B14F-4D97-AF65-F5344CB8AC3E}">
        <p14:creationId xmlns:p14="http://schemas.microsoft.com/office/powerpoint/2010/main" val="28588459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1D43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411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798" y="416497"/>
            <a:ext cx="11079822" cy="92211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 userDrawn="1"/>
        </p:nvGraphicFramePr>
        <p:xfrm>
          <a:off x="584200" y="1476596"/>
          <a:ext cx="11056420" cy="432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43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2597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D43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03414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32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1D43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6527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1D43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798" y="457199"/>
            <a:ext cx="4211227" cy="1936679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457432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798" y="2604070"/>
            <a:ext cx="4211227" cy="326491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924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175" y="1122363"/>
            <a:ext cx="11034445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175" y="3602038"/>
            <a:ext cx="11034445" cy="1655762"/>
          </a:xfrm>
        </p:spPr>
        <p:txBody>
          <a:bodyPr>
            <a:normAutofit/>
          </a:bodyPr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440407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527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798" y="2111604"/>
            <a:ext cx="11079822" cy="3980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60388" y="1534096"/>
            <a:ext cx="11080750" cy="43759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 cap="all" baseline="0"/>
            </a:lvl1pPr>
            <a:lvl5pPr>
              <a:defRPr/>
            </a:lvl5pPr>
          </a:lstStyle>
          <a:p>
            <a:pPr lvl="0"/>
            <a:r>
              <a:rPr lang="en-US" dirty="0"/>
              <a:t>Secondary refining headline</a:t>
            </a:r>
          </a:p>
        </p:txBody>
      </p:sp>
    </p:spTree>
    <p:extLst>
      <p:ext uri="{BB962C8B-B14F-4D97-AF65-F5344CB8AC3E}">
        <p14:creationId xmlns:p14="http://schemas.microsoft.com/office/powerpoint/2010/main" val="7370777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584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798" y="416497"/>
            <a:ext cx="11079822" cy="92211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 userDrawn="1"/>
        </p:nvGraphicFramePr>
        <p:xfrm>
          <a:off x="584200" y="1476596"/>
          <a:ext cx="11056420" cy="432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43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1911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03414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246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1832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798" y="457199"/>
            <a:ext cx="4211227" cy="1936679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457432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798" y="2604070"/>
            <a:ext cx="4211227" cy="326491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951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175" y="1122363"/>
            <a:ext cx="11034445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175" y="3602038"/>
            <a:ext cx="11034445" cy="1655762"/>
          </a:xfrm>
        </p:spPr>
        <p:txBody>
          <a:bodyPr>
            <a:normAutofit/>
          </a:bodyPr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695316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362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798" y="2111604"/>
            <a:ext cx="11079822" cy="3980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60388" y="1534096"/>
            <a:ext cx="11080750" cy="43759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 cap="all" baseline="0"/>
            </a:lvl1pPr>
            <a:lvl5pPr>
              <a:defRPr/>
            </a:lvl5pPr>
          </a:lstStyle>
          <a:p>
            <a:pPr lvl="0"/>
            <a:r>
              <a:rPr lang="en-US" dirty="0"/>
              <a:t>Secondary refining headline</a:t>
            </a:r>
          </a:p>
        </p:txBody>
      </p:sp>
    </p:spTree>
    <p:extLst>
      <p:ext uri="{BB962C8B-B14F-4D97-AF65-F5344CB8AC3E}">
        <p14:creationId xmlns:p14="http://schemas.microsoft.com/office/powerpoint/2010/main" val="32295712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400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03414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471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7311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798" y="457199"/>
            <a:ext cx="4211227" cy="1936679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457432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798" y="2604070"/>
            <a:ext cx="4211227" cy="326491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228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99E2A-118A-4377-8F98-2DF40BCBA9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99E2A-118A-4377-8F98-2DF40BCBA9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99E2A-118A-4377-8F98-2DF40BCBA9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0D099E2A-118A-4377-8F98-2DF40BCBA9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99E2A-118A-4377-8F98-2DF40BCBA9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99E2A-118A-4377-8F98-2DF40BCBA9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con" descr="Ones-and-zeroes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79" y="4928556"/>
            <a:ext cx="2714605" cy="1972396"/>
          </a:xfrm>
          <a:prstGeom prst="rect">
            <a:avLst/>
          </a:prstGeom>
        </p:spPr>
      </p:pic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0" y="2194768"/>
            <a:ext cx="12192001" cy="1081833"/>
          </a:xfrm>
          <a:prstGeom prst="rect">
            <a:avLst/>
          </a:prstGeom>
        </p:spPr>
        <p:txBody>
          <a:bodyPr/>
          <a:lstStyle>
            <a:lvl1pPr algn="ctr">
              <a:defRPr lang="en-US" sz="5400" b="0" kern="1200" cap="none" spc="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Presenter"/>
          <p:cNvSpPr>
            <a:spLocks noGrp="1"/>
          </p:cNvSpPr>
          <p:nvPr>
            <p:ph type="body" sz="quarter" idx="10" hasCustomPrompt="1"/>
          </p:nvPr>
        </p:nvSpPr>
        <p:spPr>
          <a:xfrm>
            <a:off x="-1588" y="3276600"/>
            <a:ext cx="12192000" cy="990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200" b="0" kern="1200" cap="none" spc="-102" baseline="0" dirty="0">
                <a:ln w="3175">
                  <a:noFill/>
                </a:ln>
                <a:solidFill>
                  <a:srgbClr val="FFFF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583659318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798" y="2111604"/>
            <a:ext cx="11079822" cy="3980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60388" y="1534096"/>
            <a:ext cx="11080750" cy="43759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 cap="all" baseline="0"/>
            </a:lvl1pPr>
            <a:lvl5pPr>
              <a:defRPr/>
            </a:lvl5pPr>
          </a:lstStyle>
          <a:p>
            <a:pPr lvl="0"/>
            <a:r>
              <a:rPr lang="en-US" dirty="0"/>
              <a:t>Secondary refining headline</a:t>
            </a:r>
          </a:p>
        </p:txBody>
      </p:sp>
    </p:spTree>
    <p:extLst>
      <p:ext uri="{BB962C8B-B14F-4D97-AF65-F5344CB8AC3E}">
        <p14:creationId xmlns:p14="http://schemas.microsoft.com/office/powerpoint/2010/main" val="42463639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798" y="416497"/>
            <a:ext cx="11079822" cy="92211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97420" y="6256216"/>
            <a:ext cx="2743200" cy="365125"/>
          </a:xfrm>
          <a:prstGeom prst="rect">
            <a:avLst/>
          </a:prstGeom>
        </p:spPr>
        <p:txBody>
          <a:bodyPr/>
          <a:lstStyle/>
          <a:p>
            <a:fld id="{0A164282-434E-41D4-9582-783D542A7B68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98770515"/>
              </p:ext>
            </p:extLst>
          </p:nvPr>
        </p:nvGraphicFramePr>
        <p:xfrm>
          <a:off x="584200" y="1476596"/>
          <a:ext cx="11056420" cy="432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4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43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5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3C454F"/>
                          </a:solidFill>
                        </a:rPr>
                        <a:t>Content</a:t>
                      </a:r>
                    </a:p>
                    <a:p>
                      <a:endParaRPr lang="en-US" sz="1600" dirty="0">
                        <a:solidFill>
                          <a:srgbClr val="3C454F"/>
                        </a:solidFill>
                      </a:endParaRPr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876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36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9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89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6150" y="37658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Topic/Title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9829" y="5363109"/>
            <a:ext cx="5911921" cy="813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886327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9600" kern="1200">
          <a:solidFill>
            <a:schemeClr val="bg1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0" indent="0" algn="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b="0" kern="1200">
          <a:solidFill>
            <a:srgbClr val="1D4380"/>
          </a:solidFill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1BE4E-1F91-49DA-A204-28A383D68637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9EE40-9F35-411C-8984-5CAB3ACA7A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67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C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0798" y="416496"/>
            <a:ext cx="11079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798" y="1876996"/>
            <a:ext cx="11079822" cy="4215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33" y="-1916710"/>
            <a:ext cx="1916710" cy="191671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2516172" y="-1299953"/>
            <a:ext cx="848413" cy="683197"/>
          </a:xfrm>
          <a:prstGeom prst="rect">
            <a:avLst/>
          </a:prstGeom>
          <a:solidFill>
            <a:srgbClr val="289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3468279" y="-1299953"/>
            <a:ext cx="848413" cy="683197"/>
          </a:xfrm>
          <a:prstGeom prst="rect">
            <a:avLst/>
          </a:prstGeom>
          <a:solidFill>
            <a:srgbClr val="80B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467521" y="-1299953"/>
            <a:ext cx="848413" cy="683197"/>
          </a:xfrm>
          <a:prstGeom prst="rect">
            <a:avLst/>
          </a:prstGeom>
          <a:solidFill>
            <a:srgbClr val="3C4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5400774" y="-1299953"/>
            <a:ext cx="848413" cy="683197"/>
          </a:xfrm>
          <a:prstGeom prst="rect">
            <a:avLst/>
          </a:prstGeom>
          <a:solidFill>
            <a:srgbClr val="E34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6334027" y="-1299953"/>
            <a:ext cx="848413" cy="683197"/>
          </a:xfrm>
          <a:prstGeom prst="rect">
            <a:avLst/>
          </a:prstGeom>
          <a:solidFill>
            <a:srgbClr val="0171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7304987" y="-1299953"/>
            <a:ext cx="848413" cy="683197"/>
          </a:xfrm>
          <a:prstGeom prst="rect">
            <a:avLst/>
          </a:prstGeom>
          <a:solidFill>
            <a:srgbClr val="1D43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560798" y="62562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rgbClr val="289FD7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617081"/>
                </a:solidFill>
              </a:rPr>
              <a:t>Microsoft Azure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1" y="0"/>
            <a:ext cx="123290" cy="6858000"/>
          </a:xfrm>
          <a:prstGeom prst="rect">
            <a:avLst/>
          </a:prstGeom>
          <a:solidFill>
            <a:srgbClr val="6170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897420" y="62741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mtClean="0">
                <a:solidFill>
                  <a:srgbClr val="617081"/>
                </a:solidFill>
              </a:defRPr>
            </a:lvl1pPr>
          </a:lstStyle>
          <a:p>
            <a:fld id="{0D099E2A-118A-4377-8F98-2DF40BCBA9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8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75" r:id="rId3"/>
    <p:sldLayoutId id="2147483737" r:id="rId4"/>
    <p:sldLayoutId id="2147483781" r:id="rId5"/>
    <p:sldLayoutId id="2147483738" r:id="rId6"/>
    <p:sldLayoutId id="2147483739" r:id="rId7"/>
    <p:sldLayoutId id="2147483740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rgbClr val="289FD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D43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0798" y="416496"/>
            <a:ext cx="11079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798" y="1876996"/>
            <a:ext cx="11079822" cy="4215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33" y="-1916710"/>
            <a:ext cx="1916710" cy="191671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2516172" y="-1299953"/>
            <a:ext cx="848413" cy="683197"/>
          </a:xfrm>
          <a:prstGeom prst="rect">
            <a:avLst/>
          </a:prstGeom>
          <a:solidFill>
            <a:srgbClr val="289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3468279" y="-1299953"/>
            <a:ext cx="848413" cy="683197"/>
          </a:xfrm>
          <a:prstGeom prst="rect">
            <a:avLst/>
          </a:prstGeom>
          <a:solidFill>
            <a:srgbClr val="80B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467521" y="-1299953"/>
            <a:ext cx="848413" cy="683197"/>
          </a:xfrm>
          <a:prstGeom prst="rect">
            <a:avLst/>
          </a:prstGeom>
          <a:solidFill>
            <a:srgbClr val="3C4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5400774" y="-1299953"/>
            <a:ext cx="848413" cy="683197"/>
          </a:xfrm>
          <a:prstGeom prst="rect">
            <a:avLst/>
          </a:prstGeom>
          <a:solidFill>
            <a:srgbClr val="E34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6334027" y="-1299953"/>
            <a:ext cx="848413" cy="683197"/>
          </a:xfrm>
          <a:prstGeom prst="rect">
            <a:avLst/>
          </a:prstGeom>
          <a:solidFill>
            <a:srgbClr val="0171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7304987" y="-1299953"/>
            <a:ext cx="848413" cy="683197"/>
          </a:xfrm>
          <a:prstGeom prst="rect">
            <a:avLst/>
          </a:prstGeom>
          <a:solidFill>
            <a:srgbClr val="1D43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560798" y="62562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rgbClr val="289FD7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0171B0"/>
                </a:solidFill>
              </a:rPr>
              <a:t>Microsoft Azure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1" y="0"/>
            <a:ext cx="123290" cy="6858000"/>
          </a:xfrm>
          <a:prstGeom prst="rect">
            <a:avLst/>
          </a:prstGeom>
          <a:solidFill>
            <a:srgbClr val="0171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897420" y="62741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mtClean="0">
                <a:solidFill>
                  <a:srgbClr val="0171B0"/>
                </a:solidFill>
              </a:defRPr>
            </a:lvl1pPr>
          </a:lstStyle>
          <a:p>
            <a:fld id="{0D099E2A-118A-4377-8F98-2DF40BCBA9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68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76" r:id="rId3"/>
    <p:sldLayoutId id="2147483744" r:id="rId4"/>
    <p:sldLayoutId id="2147483782" r:id="rId5"/>
    <p:sldLayoutId id="2147483745" r:id="rId6"/>
    <p:sldLayoutId id="2147483746" r:id="rId7"/>
    <p:sldLayoutId id="214748374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rgbClr val="289FD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0798" y="416496"/>
            <a:ext cx="11079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798" y="1876996"/>
            <a:ext cx="11079822" cy="4215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33" y="-1916710"/>
            <a:ext cx="1916710" cy="191671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2516172" y="-1299953"/>
            <a:ext cx="848413" cy="683197"/>
          </a:xfrm>
          <a:prstGeom prst="rect">
            <a:avLst/>
          </a:prstGeom>
          <a:solidFill>
            <a:srgbClr val="289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3468279" y="-1299953"/>
            <a:ext cx="848413" cy="683197"/>
          </a:xfrm>
          <a:prstGeom prst="rect">
            <a:avLst/>
          </a:prstGeom>
          <a:solidFill>
            <a:srgbClr val="80B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467521" y="-1299953"/>
            <a:ext cx="848413" cy="683197"/>
          </a:xfrm>
          <a:prstGeom prst="rect">
            <a:avLst/>
          </a:prstGeom>
          <a:solidFill>
            <a:srgbClr val="3C4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5400774" y="-1299953"/>
            <a:ext cx="848413" cy="683197"/>
          </a:xfrm>
          <a:prstGeom prst="rect">
            <a:avLst/>
          </a:prstGeom>
          <a:solidFill>
            <a:srgbClr val="E34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6334027" y="-1299953"/>
            <a:ext cx="848413" cy="683197"/>
          </a:xfrm>
          <a:prstGeom prst="rect">
            <a:avLst/>
          </a:prstGeom>
          <a:solidFill>
            <a:srgbClr val="0171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7304987" y="-1299953"/>
            <a:ext cx="848413" cy="683197"/>
          </a:xfrm>
          <a:prstGeom prst="rect">
            <a:avLst/>
          </a:prstGeom>
          <a:solidFill>
            <a:srgbClr val="1D43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560798" y="62562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rgbClr val="289FD7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289FD7"/>
                </a:solidFill>
              </a:rPr>
              <a:t>Microsoft Azure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1" y="0"/>
            <a:ext cx="123290" cy="6858000"/>
          </a:xfrm>
          <a:prstGeom prst="rect">
            <a:avLst/>
          </a:prstGeom>
          <a:solidFill>
            <a:srgbClr val="6170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897420" y="62741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mtClean="0">
                <a:solidFill>
                  <a:srgbClr val="289FD7"/>
                </a:solidFill>
              </a:defRPr>
            </a:lvl1pPr>
          </a:lstStyle>
          <a:p>
            <a:fld id="{0D099E2A-118A-4377-8F98-2DF40BCBA9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2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77" r:id="rId3"/>
    <p:sldLayoutId id="2147483751" r:id="rId4"/>
    <p:sldLayoutId id="2147483783" r:id="rId5"/>
    <p:sldLayoutId id="2147483752" r:id="rId6"/>
    <p:sldLayoutId id="2147483753" r:id="rId7"/>
    <p:sldLayoutId id="2147483754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rgbClr val="289FD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rgbClr val="61708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rgbClr val="61708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61708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61708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61708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0798" y="416496"/>
            <a:ext cx="11079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798" y="1876996"/>
            <a:ext cx="11079822" cy="4215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33" y="-1916710"/>
            <a:ext cx="1916710" cy="191671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2516172" y="-1299953"/>
            <a:ext cx="848413" cy="683197"/>
          </a:xfrm>
          <a:prstGeom prst="rect">
            <a:avLst/>
          </a:prstGeom>
          <a:solidFill>
            <a:srgbClr val="289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3468279" y="-1299953"/>
            <a:ext cx="848413" cy="683197"/>
          </a:xfrm>
          <a:prstGeom prst="rect">
            <a:avLst/>
          </a:prstGeom>
          <a:solidFill>
            <a:srgbClr val="80B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467521" y="-1299953"/>
            <a:ext cx="848413" cy="683197"/>
          </a:xfrm>
          <a:prstGeom prst="rect">
            <a:avLst/>
          </a:prstGeom>
          <a:solidFill>
            <a:srgbClr val="3C4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5400774" y="-1299953"/>
            <a:ext cx="848413" cy="683197"/>
          </a:xfrm>
          <a:prstGeom prst="rect">
            <a:avLst/>
          </a:prstGeom>
          <a:solidFill>
            <a:srgbClr val="E34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6334027" y="-1299953"/>
            <a:ext cx="848413" cy="683197"/>
          </a:xfrm>
          <a:prstGeom prst="rect">
            <a:avLst/>
          </a:prstGeom>
          <a:solidFill>
            <a:srgbClr val="0171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7304987" y="-1299953"/>
            <a:ext cx="848413" cy="683197"/>
          </a:xfrm>
          <a:prstGeom prst="rect">
            <a:avLst/>
          </a:prstGeom>
          <a:solidFill>
            <a:srgbClr val="1D43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560798" y="62562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rgbClr val="289FD7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617081"/>
                </a:solidFill>
              </a:rPr>
              <a:t>Microsoft Azure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1" y="0"/>
            <a:ext cx="123290" cy="6858000"/>
          </a:xfrm>
          <a:prstGeom prst="rect">
            <a:avLst/>
          </a:prstGeom>
          <a:solidFill>
            <a:srgbClr val="3C4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897420" y="62741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mtClean="0">
                <a:solidFill>
                  <a:srgbClr val="617081"/>
                </a:solidFill>
              </a:defRPr>
            </a:lvl1pPr>
          </a:lstStyle>
          <a:p>
            <a:fld id="{0D099E2A-118A-4377-8F98-2DF40BCBA9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14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78" r:id="rId3"/>
    <p:sldLayoutId id="2147483761" r:id="rId4"/>
    <p:sldLayoutId id="2147483762" r:id="rId5"/>
    <p:sldLayoutId id="2147483763" r:id="rId6"/>
    <p:sldLayoutId id="2147483764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rgbClr val="289FD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3/24/2022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9AB71A2-B7C4-402B-95AC-4229EC1582F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33" y="-1916710"/>
            <a:ext cx="1916710" cy="191671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CC27FAA-CC33-43D7-8D45-6635478C85B0}"/>
              </a:ext>
            </a:extLst>
          </p:cNvPr>
          <p:cNvSpPr/>
          <p:nvPr userDrawn="1"/>
        </p:nvSpPr>
        <p:spPr>
          <a:xfrm>
            <a:off x="2516172" y="-1299953"/>
            <a:ext cx="848413" cy="683197"/>
          </a:xfrm>
          <a:prstGeom prst="rect">
            <a:avLst/>
          </a:prstGeom>
          <a:solidFill>
            <a:srgbClr val="289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9A32C1-511E-4DFC-B30B-B8B40F16CA15}"/>
              </a:ext>
            </a:extLst>
          </p:cNvPr>
          <p:cNvSpPr/>
          <p:nvPr userDrawn="1"/>
        </p:nvSpPr>
        <p:spPr>
          <a:xfrm>
            <a:off x="3468279" y="-1299953"/>
            <a:ext cx="848413" cy="683197"/>
          </a:xfrm>
          <a:prstGeom prst="rect">
            <a:avLst/>
          </a:prstGeom>
          <a:solidFill>
            <a:srgbClr val="80B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0F0CA3-F781-4361-9AF9-81A781B8F682}"/>
              </a:ext>
            </a:extLst>
          </p:cNvPr>
          <p:cNvSpPr/>
          <p:nvPr userDrawn="1"/>
        </p:nvSpPr>
        <p:spPr>
          <a:xfrm>
            <a:off x="4467521" y="-1299953"/>
            <a:ext cx="848413" cy="683197"/>
          </a:xfrm>
          <a:prstGeom prst="rect">
            <a:avLst/>
          </a:prstGeom>
          <a:solidFill>
            <a:srgbClr val="3C4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F12D83-F88A-423B-897D-ABE5BAB0496A}"/>
              </a:ext>
            </a:extLst>
          </p:cNvPr>
          <p:cNvSpPr/>
          <p:nvPr userDrawn="1"/>
        </p:nvSpPr>
        <p:spPr>
          <a:xfrm>
            <a:off x="5400774" y="-1299953"/>
            <a:ext cx="848413" cy="683197"/>
          </a:xfrm>
          <a:prstGeom prst="rect">
            <a:avLst/>
          </a:prstGeom>
          <a:solidFill>
            <a:srgbClr val="E34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3F9367-40A3-405D-81BE-17D87D4941C1}"/>
              </a:ext>
            </a:extLst>
          </p:cNvPr>
          <p:cNvSpPr/>
          <p:nvPr userDrawn="1"/>
        </p:nvSpPr>
        <p:spPr>
          <a:xfrm>
            <a:off x="6334027" y="-1299953"/>
            <a:ext cx="848413" cy="683197"/>
          </a:xfrm>
          <a:prstGeom prst="rect">
            <a:avLst/>
          </a:prstGeom>
          <a:solidFill>
            <a:srgbClr val="0171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CDFCD4-5F3D-4106-850C-46F2214609A9}"/>
              </a:ext>
            </a:extLst>
          </p:cNvPr>
          <p:cNvSpPr/>
          <p:nvPr userDrawn="1"/>
        </p:nvSpPr>
        <p:spPr>
          <a:xfrm>
            <a:off x="7304987" y="-1299953"/>
            <a:ext cx="848413" cy="683197"/>
          </a:xfrm>
          <a:prstGeom prst="rect">
            <a:avLst/>
          </a:prstGeom>
          <a:solidFill>
            <a:srgbClr val="1D43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5C4BF7-C7CE-47A0-BF42-ADD1070D1B34}"/>
              </a:ext>
            </a:extLst>
          </p:cNvPr>
          <p:cNvSpPr/>
          <p:nvPr userDrawn="1"/>
        </p:nvSpPr>
        <p:spPr>
          <a:xfrm>
            <a:off x="1" y="0"/>
            <a:ext cx="123290" cy="6858000"/>
          </a:xfrm>
          <a:prstGeom prst="rect">
            <a:avLst/>
          </a:prstGeom>
          <a:solidFill>
            <a:srgbClr val="289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773" r:id="rId13"/>
    <p:sldLayoutId id="2147483779" r:id="rId14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.microsoft.com/downloa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9361" y="1747552"/>
            <a:ext cx="9605520" cy="1765042"/>
          </a:xfrm>
        </p:spPr>
        <p:txBody>
          <a:bodyPr>
            <a:noAutofit/>
          </a:bodyPr>
          <a:lstStyle/>
          <a:p>
            <a:pPr algn="l"/>
            <a:r>
              <a:rPr lang="en-US" sz="80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ASP.NET CORE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287143" y="4781327"/>
            <a:ext cx="3644301" cy="714502"/>
          </a:xfrm>
        </p:spPr>
        <p:txBody>
          <a:bodyPr>
            <a:noAutofit/>
          </a:bodyPr>
          <a:lstStyle/>
          <a:p>
            <a:pPr algn="r"/>
            <a:r>
              <a:rPr lang="en-US" sz="2800" b="1" dirty="0"/>
              <a:t>Deeksha Srivastava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27757" y="2182397"/>
            <a:ext cx="12219757" cy="8953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endParaRPr lang="en-US" sz="3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74D6AB-63B6-4EED-A6BC-B9389145473D}"/>
              </a:ext>
            </a:extLst>
          </p:cNvPr>
          <p:cNvSpPr txBox="1">
            <a:spLocks/>
          </p:cNvSpPr>
          <p:nvPr/>
        </p:nvSpPr>
        <p:spPr>
          <a:xfrm>
            <a:off x="2325924" y="3204010"/>
            <a:ext cx="9605520" cy="1152484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lang="en-US" sz="5400" b="0" kern="1200" cap="none" spc="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l"/>
            <a:r>
              <a:rPr lang="en-IN" sz="60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JWT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30390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788" y="554637"/>
            <a:ext cx="2257353" cy="636356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2800" b="1" dirty="0">
                <a:latin typeface="+mn-lt"/>
                <a:ea typeface="+mn-ea"/>
                <a:cs typeface="+mn-cs"/>
              </a:rPr>
              <a:t>Topics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60798" y="1417538"/>
            <a:ext cx="11079822" cy="4398645"/>
          </a:xfrm>
        </p:spPr>
        <p:txBody>
          <a:bodyPr>
            <a:normAutofit/>
          </a:bodyPr>
          <a:lstStyle/>
          <a:p>
            <a:r>
              <a:rPr lang="en-US" sz="2900" dirty="0"/>
              <a:t>Introduction and Journey of .NET Core</a:t>
            </a:r>
          </a:p>
          <a:p>
            <a:r>
              <a:rPr lang="en-US" sz="2900" dirty="0"/>
              <a:t>REST API: Brief Intro</a:t>
            </a:r>
          </a:p>
          <a:p>
            <a:r>
              <a:rPr lang="en-US" sz="2900" dirty="0"/>
              <a:t>JWT : The Concept</a:t>
            </a:r>
          </a:p>
          <a:p>
            <a:r>
              <a:rPr lang="en-US" sz="2900" dirty="0"/>
              <a:t>Why JWT</a:t>
            </a:r>
          </a:p>
          <a:p>
            <a:r>
              <a:rPr lang="en-US" sz="2900" dirty="0"/>
              <a:t>Token Security and Flow</a:t>
            </a:r>
          </a:p>
          <a:p>
            <a:r>
              <a:rPr lang="en-US" sz="2900" dirty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60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5788" y="890464"/>
            <a:ext cx="11079822" cy="554031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900" b="1" dirty="0"/>
              <a:t>.</a:t>
            </a:r>
            <a:r>
              <a:rPr lang="en-US" sz="6400" b="1" u="sng" dirty="0"/>
              <a:t>Net Core: </a:t>
            </a:r>
          </a:p>
          <a:p>
            <a:pPr marL="0" indent="0">
              <a:buNone/>
            </a:pPr>
            <a:endParaRPr lang="en-US" sz="6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.NET Core is a cross-platform(that can run on Windows, Linux, Mac ) , high-performance, open source  framework for building modern, cloud-based, Internet-connected applications and many more.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With .NET Core you can build, Web apps and services , and mobile backends.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It is smaller set/sub-set of .Net Framework (Full), that maintained by Microsoft &amp; the .NET community on GitHub.</a:t>
            </a:r>
          </a:p>
          <a:p>
            <a:pPr marL="0" indent="0">
              <a:buNone/>
            </a:pPr>
            <a:endParaRPr lang="en-US" sz="7200" b="1" dirty="0"/>
          </a:p>
          <a:p>
            <a:pPr marL="0" indent="0">
              <a:buNone/>
            </a:pPr>
            <a:r>
              <a:rPr lang="en-US" sz="7200" b="1" u="sng" dirty="0"/>
              <a:t>.Net Core Facilities:</a:t>
            </a:r>
            <a:endParaRPr lang="en-US" sz="7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Cross-platform that runs on Windows, macOS and Linux.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Open source.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8000" dirty="0"/>
              <a:t>Built-in dependency injection features.</a:t>
            </a:r>
            <a:endParaRPr lang="en-US" sz="8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Compatible with .NET Framework, Xamarin and Mono, via the .NET Standard Library.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Flexible deployment.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With release of .NET 6, This makes the all-platform code sharable</a:t>
            </a:r>
            <a:r>
              <a:rPr lang="en-US" sz="8000" dirty="0" smtClean="0"/>
              <a:t>.</a:t>
            </a:r>
            <a:endParaRPr lang="en-US" sz="8000" dirty="0"/>
          </a:p>
          <a:p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95085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6B0C70-C335-47D7-A755-D59150CB3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714196"/>
              </p:ext>
            </p:extLst>
          </p:nvPr>
        </p:nvGraphicFramePr>
        <p:xfrm>
          <a:off x="612139" y="1407039"/>
          <a:ext cx="5850654" cy="4575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327">
                  <a:extLst>
                    <a:ext uri="{9D8B030D-6E8A-4147-A177-3AD203B41FA5}">
                      <a16:colId xmlns:a16="http://schemas.microsoft.com/office/drawing/2014/main" val="3108510083"/>
                    </a:ext>
                  </a:extLst>
                </a:gridCol>
                <a:gridCol w="2925327">
                  <a:extLst>
                    <a:ext uri="{9D8B030D-6E8A-4147-A177-3AD203B41FA5}">
                      <a16:colId xmlns:a16="http://schemas.microsoft.com/office/drawing/2014/main" val="3465122530"/>
                    </a:ext>
                  </a:extLst>
                </a:gridCol>
              </a:tblGrid>
              <a:tr h="555494">
                <a:tc>
                  <a:txBody>
                    <a:bodyPr/>
                    <a:lstStyle/>
                    <a:p>
                      <a:r>
                        <a:rPr lang="en-IN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091629"/>
                  </a:ext>
                </a:extLst>
              </a:tr>
              <a:tr h="555494">
                <a:tc>
                  <a:txBody>
                    <a:bodyPr/>
                    <a:lstStyle/>
                    <a:p>
                      <a:r>
                        <a:rPr lang="en-IN" dirty="0"/>
                        <a:t>ASP.NET Web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280155"/>
                  </a:ext>
                </a:extLst>
              </a:tr>
              <a:tr h="55549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ASP.NET MVC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855962"/>
                  </a:ext>
                </a:extLst>
              </a:tr>
              <a:tr h="55549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ASP.NET</a:t>
                      </a:r>
                      <a:r>
                        <a:rPr lang="en-IN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Core 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772452"/>
                  </a:ext>
                </a:extLst>
              </a:tr>
              <a:tr h="55549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ASP.NET Core 2.0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039367"/>
                  </a:ext>
                </a:extLst>
              </a:tr>
              <a:tr h="555494">
                <a:tc>
                  <a:txBody>
                    <a:bodyPr/>
                    <a:lstStyle/>
                    <a:p>
                      <a:r>
                        <a:rPr lang="en-IN" dirty="0"/>
                        <a:t>ASP.NET</a:t>
                      </a:r>
                      <a:r>
                        <a:rPr lang="en-IN" baseline="0" dirty="0"/>
                        <a:t> Core 2.1 &amp; 2.2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6849">
                <a:tc>
                  <a:txBody>
                    <a:bodyPr/>
                    <a:lstStyle/>
                    <a:p>
                      <a:r>
                        <a:rPr lang="en-IN" dirty="0"/>
                        <a:t>ASP.NET</a:t>
                      </a:r>
                      <a:r>
                        <a:rPr lang="en-IN" baseline="0" dirty="0"/>
                        <a:t> Core 3.0 &amp; 3.1 (LTS)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5494">
                <a:tc>
                  <a:txBody>
                    <a:bodyPr/>
                    <a:lstStyle/>
                    <a:p>
                      <a:r>
                        <a:rPr lang="en-IN" dirty="0"/>
                        <a:t>.NET</a:t>
                      </a:r>
                      <a:r>
                        <a:rPr lang="en-IN" baseline="0" dirty="0"/>
                        <a:t> 5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99128A-29F0-45D8-94F8-B6B980843C87}"/>
              </a:ext>
            </a:extLst>
          </p:cNvPr>
          <p:cNvSpPr txBox="1"/>
          <p:nvPr/>
        </p:nvSpPr>
        <p:spPr>
          <a:xfrm>
            <a:off x="3666839" y="689283"/>
            <a:ext cx="411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Road to  .NET   Core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3615A-C179-4920-B070-61F33C008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793" y="1407039"/>
            <a:ext cx="5729207" cy="457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7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5E838C-028F-426F-8797-09ABB901B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0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BD2C66-F7AF-4C5C-A8B0-B0B42FA35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9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Traditional </a:t>
            </a:r>
            <a:r>
              <a:rPr lang="en-US" dirty="0" smtClean="0"/>
              <a:t>Authentication </a:t>
            </a:r>
            <a:r>
              <a:rPr lang="en-US" dirty="0"/>
              <a:t>Systems!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47088"/>
            <a:ext cx="10972800" cy="438912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IN" dirty="0" smtClean="0"/>
              <a:t>Traditional </a:t>
            </a:r>
            <a:r>
              <a:rPr lang="en-IN" dirty="0"/>
              <a:t>Authentication </a:t>
            </a:r>
            <a:r>
              <a:rPr lang="en-IN" dirty="0" smtClean="0"/>
              <a:t>Systems</a:t>
            </a:r>
          </a:p>
          <a:p>
            <a:pPr marL="0" indent="0">
              <a:buNone/>
            </a:pPr>
            <a:endParaRPr lang="en-US" dirty="0" smtClean="0"/>
          </a:p>
          <a:p>
            <a:pPr lvl="8"/>
            <a:r>
              <a:rPr lang="en-US" sz="2000" dirty="0"/>
              <a:t>User logs in, server checks </a:t>
            </a:r>
            <a:r>
              <a:rPr lang="en-US" sz="2000" dirty="0" smtClean="0"/>
              <a:t>creds</a:t>
            </a:r>
          </a:p>
          <a:p>
            <a:pPr lvl="8"/>
            <a:endParaRPr lang="en-US" dirty="0"/>
          </a:p>
          <a:p>
            <a:pPr marL="2286000" lvl="8" indent="0">
              <a:buNone/>
            </a:pPr>
            <a:endParaRPr lang="en-US" dirty="0" smtClean="0"/>
          </a:p>
          <a:p>
            <a:pPr lvl="8"/>
            <a:r>
              <a:rPr lang="en-US" sz="2000" dirty="0"/>
              <a:t>Session stored in </a:t>
            </a:r>
            <a:r>
              <a:rPr lang="en-US" sz="2000" dirty="0" smtClean="0"/>
              <a:t>server</a:t>
            </a:r>
            <a:r>
              <a:rPr lang="en-US" sz="2000" dirty="0"/>
              <a:t>, cookie </a:t>
            </a:r>
            <a:r>
              <a:rPr lang="en-US" sz="2000" dirty="0" smtClean="0"/>
              <a:t>created</a:t>
            </a:r>
          </a:p>
          <a:p>
            <a:pPr marL="2286000" lvl="8" indent="0">
              <a:buNone/>
            </a:pPr>
            <a:endParaRPr lang="en-US" sz="2000" dirty="0" smtClean="0"/>
          </a:p>
          <a:p>
            <a:pPr lvl="8"/>
            <a:r>
              <a:rPr lang="en-US" sz="2000" dirty="0"/>
              <a:t>Send session data to access endpoints</a:t>
            </a:r>
            <a:endParaRPr lang="en-US" sz="2000" dirty="0" smtClean="0"/>
          </a:p>
          <a:p>
            <a:endParaRPr lang="en-IN" dirty="0" smtClean="0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3215148" y="4262284"/>
            <a:ext cx="44097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215148" y="5029200"/>
            <a:ext cx="44097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3215148" y="3274142"/>
            <a:ext cx="4203291" cy="29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14400" y="3274142"/>
            <a:ext cx="1828800" cy="13863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Client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689258" y="2990088"/>
            <a:ext cx="1811594" cy="18621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Server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36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Issues with traditional systems!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u="sng" dirty="0"/>
              <a:t>Sessions: </a:t>
            </a:r>
            <a:r>
              <a:rPr lang="en-US" sz="3200" dirty="0"/>
              <a:t>Record needs to be stored on </a:t>
            </a:r>
            <a:r>
              <a:rPr lang="en-US" sz="3200" dirty="0" smtClean="0"/>
              <a:t>server.</a:t>
            </a:r>
          </a:p>
          <a:p>
            <a:r>
              <a:rPr lang="en-US" sz="3200" u="sng" dirty="0"/>
              <a:t>Scalability: </a:t>
            </a:r>
            <a:r>
              <a:rPr lang="en-US" sz="3200" dirty="0"/>
              <a:t>With sessions in memory, load increases drastically in a distributed system</a:t>
            </a:r>
            <a:r>
              <a:rPr lang="en-US" sz="3200" dirty="0" smtClean="0"/>
              <a:t>.</a:t>
            </a:r>
          </a:p>
          <a:p>
            <a:r>
              <a:rPr lang="en-US" sz="3200" u="sng" dirty="0" smtClean="0"/>
              <a:t>CORS</a:t>
            </a:r>
            <a:r>
              <a:rPr lang="en-US" sz="3200" u="sng" dirty="0"/>
              <a:t>: </a:t>
            </a:r>
            <a:r>
              <a:rPr lang="en-US" sz="3200" dirty="0"/>
              <a:t>When using multiple devices grabbing data via AJAX requests, we may run into forbidden requests</a:t>
            </a:r>
            <a:r>
              <a:rPr lang="en-US" sz="3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847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8E1EB7-42C0-40C9-A7D3-2A556FA59ED8}"/>
              </a:ext>
            </a:extLst>
          </p:cNvPr>
          <p:cNvSpPr txBox="1"/>
          <p:nvPr/>
        </p:nvSpPr>
        <p:spPr>
          <a:xfrm>
            <a:off x="701298" y="1528883"/>
            <a:ext cx="74508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Drawbacks of Sessions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Scaling is hard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Doesn’t work with mobile 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0A447-77A5-42E7-8E7E-917A30C66345}"/>
              </a:ext>
            </a:extLst>
          </p:cNvPr>
          <p:cNvSpPr txBox="1"/>
          <p:nvPr/>
        </p:nvSpPr>
        <p:spPr>
          <a:xfrm>
            <a:off x="871780" y="3930134"/>
            <a:ext cx="896964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Advantages of Tokens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Stateless!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Works on both web and mobile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Flexible 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BE722-6FE8-40DB-9FF6-E64C606723AA}"/>
              </a:ext>
            </a:extLst>
          </p:cNvPr>
          <p:cNvSpPr txBox="1"/>
          <p:nvPr/>
        </p:nvSpPr>
        <p:spPr>
          <a:xfrm>
            <a:off x="3352437" y="535841"/>
            <a:ext cx="71709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Session vs Token</a:t>
            </a:r>
          </a:p>
        </p:txBody>
      </p:sp>
    </p:spTree>
    <p:extLst>
      <p:ext uri="{BB962C8B-B14F-4D97-AF65-F5344CB8AC3E}">
        <p14:creationId xmlns:p14="http://schemas.microsoft.com/office/powerpoint/2010/main" val="50598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AF5992-F109-4170-B84A-EB460BB96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183" y="992728"/>
            <a:ext cx="6168327" cy="48725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E73E8F-84F7-4D39-A281-F85CE1FC0047}"/>
              </a:ext>
            </a:extLst>
          </p:cNvPr>
          <p:cNvSpPr txBox="1"/>
          <p:nvPr/>
        </p:nvSpPr>
        <p:spPr>
          <a:xfrm>
            <a:off x="289301" y="2540019"/>
            <a:ext cx="59565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APIs &amp; Security</a:t>
            </a:r>
          </a:p>
        </p:txBody>
      </p:sp>
    </p:spTree>
    <p:extLst>
      <p:ext uri="{BB962C8B-B14F-4D97-AF65-F5344CB8AC3E}">
        <p14:creationId xmlns:p14="http://schemas.microsoft.com/office/powerpoint/2010/main" val="79021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1C6BE-8C3B-4424-96DF-FB9AC1428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8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9F3590-6788-426D-8D7C-462582E8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D30E6-6A3A-422F-B503-867466FA6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8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E6B59-A416-45CE-A2A0-2CC6EE708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5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B9B24A-B3FE-43C0-988A-09A34CC23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8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AAA8B8-F139-4767-9BF6-97B65628C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788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6C3FEA-3500-4E47-A02E-AE1D9E1E1BA8}"/>
              </a:ext>
            </a:extLst>
          </p:cNvPr>
          <p:cNvSpPr txBox="1"/>
          <p:nvPr/>
        </p:nvSpPr>
        <p:spPr>
          <a:xfrm>
            <a:off x="375835" y="4788976"/>
            <a:ext cx="75902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highlight>
                  <a:srgbClr val="C0C0C0"/>
                </a:highlight>
              </a:rPr>
              <a:t>Red</a:t>
            </a:r>
            <a:r>
              <a:rPr lang="en-US" sz="3200" dirty="0"/>
              <a:t> = Header </a:t>
            </a:r>
          </a:p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Green</a:t>
            </a:r>
            <a:r>
              <a:rPr lang="en-US" sz="3200" dirty="0"/>
              <a:t> = Payload (“claims”) </a:t>
            </a:r>
          </a:p>
          <a:p>
            <a:r>
              <a:rPr lang="en-US" sz="3200" dirty="0">
                <a:solidFill>
                  <a:schemeClr val="accent1"/>
                </a:solidFill>
                <a:highlight>
                  <a:srgbClr val="C0C0C0"/>
                </a:highlight>
              </a:rPr>
              <a:t>Blue</a:t>
            </a:r>
            <a:r>
              <a:rPr lang="en-US" sz="3200" dirty="0"/>
              <a:t> = Cryptographic signature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7374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JWT Payload (Claims</a:t>
            </a:r>
            <a:r>
              <a:rPr lang="en-IN" dirty="0" smtClean="0"/>
              <a:t>)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u="sng" dirty="0"/>
              <a:t>Reserved: </a:t>
            </a:r>
            <a:r>
              <a:rPr lang="en-US" sz="3600" dirty="0"/>
              <a:t>Predefined, recommended, interoperable terms. </a:t>
            </a:r>
          </a:p>
          <a:p>
            <a:r>
              <a:rPr lang="en-US" sz="3600" u="sng" dirty="0"/>
              <a:t>Public: </a:t>
            </a:r>
            <a:r>
              <a:rPr lang="en-US" sz="3600" dirty="0"/>
              <a:t>Customs claims that may be set at will</a:t>
            </a:r>
            <a:r>
              <a:rPr lang="en-US" sz="3600" dirty="0" smtClean="0"/>
              <a:t>.</a:t>
            </a:r>
            <a:endParaRPr lang="en-US" sz="3600" dirty="0"/>
          </a:p>
          <a:p>
            <a:r>
              <a:rPr lang="en-US" sz="3600" u="sng" dirty="0"/>
              <a:t>Private: </a:t>
            </a:r>
            <a:r>
              <a:rPr lang="en-US" sz="3600" dirty="0"/>
              <a:t>Agreed upon claims between two parties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33715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Reserved Claims!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 err="1"/>
              <a:t>iss</a:t>
            </a:r>
            <a:r>
              <a:rPr lang="en-US" u="sng" dirty="0"/>
              <a:t> (issuer): </a:t>
            </a:r>
            <a:r>
              <a:rPr lang="en-US" dirty="0"/>
              <a:t>The person that issued the </a:t>
            </a:r>
            <a:r>
              <a:rPr lang="en-US" dirty="0" smtClean="0"/>
              <a:t>token</a:t>
            </a:r>
          </a:p>
          <a:p>
            <a:pPr marL="0" indent="0">
              <a:buNone/>
            </a:pPr>
            <a:r>
              <a:rPr lang="en-US" u="sng" dirty="0"/>
              <a:t>sub (subject) : </a:t>
            </a:r>
            <a:r>
              <a:rPr lang="en-US" dirty="0"/>
              <a:t>The subject of the token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u="sng" dirty="0" err="1"/>
              <a:t>aud</a:t>
            </a:r>
            <a:r>
              <a:rPr lang="en-US" u="sng" dirty="0"/>
              <a:t> (audience) </a:t>
            </a:r>
            <a:r>
              <a:rPr lang="en-US" dirty="0"/>
              <a:t>: Audience the token is intended for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u="sng" dirty="0" err="1"/>
              <a:t>exp</a:t>
            </a:r>
            <a:r>
              <a:rPr lang="en-US" u="sng" dirty="0"/>
              <a:t> (expiration time) </a:t>
            </a:r>
            <a:r>
              <a:rPr lang="en-US" dirty="0"/>
              <a:t>: Expiration time of the token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u="sng" dirty="0" err="1"/>
              <a:t>nbf</a:t>
            </a:r>
            <a:r>
              <a:rPr lang="en-US" u="sng" dirty="0"/>
              <a:t> (not before) </a:t>
            </a:r>
            <a:r>
              <a:rPr lang="en-US" dirty="0"/>
              <a:t>: Starting time token is available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u="sng" dirty="0" err="1"/>
              <a:t>iat</a:t>
            </a:r>
            <a:r>
              <a:rPr lang="en-US" u="sng" dirty="0"/>
              <a:t> (issued at) </a:t>
            </a:r>
            <a:r>
              <a:rPr lang="en-US" dirty="0"/>
              <a:t>: When the token was issued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u="sng" dirty="0" err="1"/>
              <a:t>jti</a:t>
            </a:r>
            <a:r>
              <a:rPr lang="en-US" u="sng" dirty="0"/>
              <a:t> (JWT ID) </a:t>
            </a:r>
            <a:r>
              <a:rPr lang="en-US" dirty="0"/>
              <a:t>: Unique identifier for the token.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86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07F90D-818D-4441-8CDD-7AAA96F33736}"/>
              </a:ext>
            </a:extLst>
          </p:cNvPr>
          <p:cNvSpPr txBox="1"/>
          <p:nvPr/>
        </p:nvSpPr>
        <p:spPr>
          <a:xfrm>
            <a:off x="1569203" y="1714573"/>
            <a:ext cx="87836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Cryptographically signed by the server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Signature guarantees it hasn’t been forged or altered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71B8F-90FB-4157-B149-F3B791DEA2FE}"/>
              </a:ext>
            </a:extLst>
          </p:cNvPr>
          <p:cNvSpPr txBox="1"/>
          <p:nvPr/>
        </p:nvSpPr>
        <p:spPr>
          <a:xfrm>
            <a:off x="3181959" y="535841"/>
            <a:ext cx="71709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Token 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FFF1D-6698-4743-A4FD-FAFF4CFF2E85}"/>
              </a:ext>
            </a:extLst>
          </p:cNvPr>
          <p:cNvSpPr txBox="1"/>
          <p:nvPr/>
        </p:nvSpPr>
        <p:spPr>
          <a:xfrm>
            <a:off x="1569203" y="2739416"/>
            <a:ext cx="94345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Token expiration (exp claim) and not-before (</a:t>
            </a:r>
            <a:r>
              <a:rPr lang="en-IN" sz="2800" dirty="0" err="1"/>
              <a:t>nbf</a:t>
            </a:r>
            <a:r>
              <a:rPr lang="en-IN" sz="2800" dirty="0"/>
              <a:t> claim)  Optional token revocation using a nonce (</a:t>
            </a:r>
            <a:r>
              <a:rPr lang="en-IN" sz="2800" dirty="0" err="1"/>
              <a:t>jti</a:t>
            </a:r>
            <a:r>
              <a:rPr lang="en-IN" sz="2800" dirty="0"/>
              <a:t> claim)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 Use HTTPS (TLS) everywhere!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 Store tokens securely</a:t>
            </a:r>
          </a:p>
        </p:txBody>
      </p:sp>
    </p:spTree>
    <p:extLst>
      <p:ext uri="{BB962C8B-B14F-4D97-AF65-F5344CB8AC3E}">
        <p14:creationId xmlns:p14="http://schemas.microsoft.com/office/powerpoint/2010/main" val="26048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F2D8BB-D7E6-4C41-876F-949CF32D4D40}"/>
              </a:ext>
            </a:extLst>
          </p:cNvPr>
          <p:cNvSpPr txBox="1"/>
          <p:nvPr/>
        </p:nvSpPr>
        <p:spPr>
          <a:xfrm>
            <a:off x="964769" y="2010314"/>
            <a:ext cx="1056596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On mobile: local device storage, sent via HTTP headers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r>
              <a:rPr lang="en-IN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On the web: cookies, or HTML5 web storage (via HTTP headers)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90112-EB52-470E-B060-7EA1628DF106}"/>
              </a:ext>
            </a:extLst>
          </p:cNvPr>
          <p:cNvSpPr txBox="1"/>
          <p:nvPr/>
        </p:nvSpPr>
        <p:spPr>
          <a:xfrm>
            <a:off x="1704810" y="566838"/>
            <a:ext cx="98259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Where to store Tokens</a:t>
            </a:r>
          </a:p>
        </p:txBody>
      </p:sp>
    </p:spTree>
    <p:extLst>
      <p:ext uri="{BB962C8B-B14F-4D97-AF65-F5344CB8AC3E}">
        <p14:creationId xmlns:p14="http://schemas.microsoft.com/office/powerpoint/2010/main" val="192286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D1C98-7CF0-4314-BCD2-78BC8DC4DC60}"/>
              </a:ext>
            </a:extLst>
          </p:cNvPr>
          <p:cNvSpPr txBox="1"/>
          <p:nvPr/>
        </p:nvSpPr>
        <p:spPr>
          <a:xfrm>
            <a:off x="3701844" y="2803490"/>
            <a:ext cx="54871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DEMO TIME!</a:t>
            </a:r>
          </a:p>
        </p:txBody>
      </p:sp>
    </p:spTree>
    <p:extLst>
      <p:ext uri="{BB962C8B-B14F-4D97-AF65-F5344CB8AC3E}">
        <p14:creationId xmlns:p14="http://schemas.microsoft.com/office/powerpoint/2010/main" val="279551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5626" y="4540093"/>
            <a:ext cx="9860627" cy="1523906"/>
          </a:xfrm>
        </p:spPr>
        <p:txBody>
          <a:bodyPr/>
          <a:lstStyle/>
          <a:p>
            <a:pPr algn="ctr"/>
            <a:r>
              <a:rPr lang="en-US" sz="8627" dirty="0"/>
              <a:t>Visual Studio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2387" y="678426"/>
            <a:ext cx="438027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Tooling :</a:t>
            </a:r>
          </a:p>
          <a:p>
            <a:endParaRPr lang="en-US" sz="6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.NET  Core SDK (For Development)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.NET Core Runtime (Hosting)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hlinkClick r:id="rId3"/>
              </a:rPr>
              <a:t>https://dotnet.microsoft.com/download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IDE or Editor with C# plugins</a:t>
            </a:r>
          </a:p>
        </p:txBody>
      </p:sp>
    </p:spTree>
    <p:extLst>
      <p:ext uri="{BB962C8B-B14F-4D97-AF65-F5344CB8AC3E}">
        <p14:creationId xmlns:p14="http://schemas.microsoft.com/office/powerpoint/2010/main" val="153161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7AEC94-A5F3-4684-BCAC-0E85679EC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728787"/>
            <a:ext cx="6858000" cy="34004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967019" y="5604387"/>
            <a:ext cx="297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7162" y="521703"/>
            <a:ext cx="6961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Your Support is appreciated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32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Deck 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89FD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zure Grap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indows Azure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zure Dar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indows Azure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Azure Basi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indows Azure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Azure Noi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indows Azure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585</Words>
  <Application>Microsoft Office PowerPoint</Application>
  <PresentationFormat>Widescreen</PresentationFormat>
  <Paragraphs>110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23</vt:i4>
      </vt:variant>
    </vt:vector>
  </HeadingPairs>
  <TitlesOfParts>
    <vt:vector size="39" baseType="lpstr">
      <vt:lpstr>Arial</vt:lpstr>
      <vt:lpstr>Calibri</vt:lpstr>
      <vt:lpstr>Calibri Light</vt:lpstr>
      <vt:lpstr>Constantia</vt:lpstr>
      <vt:lpstr>Segoe UI</vt:lpstr>
      <vt:lpstr>Segoe UI Light</vt:lpstr>
      <vt:lpstr>Segoe UI Semibold</vt:lpstr>
      <vt:lpstr>Wingdings</vt:lpstr>
      <vt:lpstr>Wingdings 2</vt:lpstr>
      <vt:lpstr>Deck Title Slide</vt:lpstr>
      <vt:lpstr>Custom Design</vt:lpstr>
      <vt:lpstr>Azure Graphite</vt:lpstr>
      <vt:lpstr>Azure Dark</vt:lpstr>
      <vt:lpstr>Azure Basic</vt:lpstr>
      <vt:lpstr>Azure Noir</vt:lpstr>
      <vt:lpstr>Flow</vt:lpstr>
      <vt:lpstr>       ASP.NET CORE API</vt:lpstr>
      <vt:lpstr>Topics</vt:lpstr>
      <vt:lpstr>PowerPoint Presentation</vt:lpstr>
      <vt:lpstr>PowerPoint Presentation</vt:lpstr>
      <vt:lpstr>PowerPoint Presentation</vt:lpstr>
      <vt:lpstr>PowerPoint Presentation</vt:lpstr>
      <vt:lpstr>Traditional Authentication Systems!</vt:lpstr>
      <vt:lpstr>Issues with traditional systems!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JWT Payload (Claims) </vt:lpstr>
      <vt:lpstr>Reserved Claims!</vt:lpstr>
      <vt:lpstr>PowerPoint Presentation</vt:lpstr>
      <vt:lpstr>PowerPoint Presentation</vt:lpstr>
      <vt:lpstr>PowerPoint Presentation</vt:lpstr>
      <vt:lpstr>Visual Studio 2019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</cp:revision>
  <dcterms:created xsi:type="dcterms:W3CDTF">2014-06-19T07:13:47Z</dcterms:created>
  <dcterms:modified xsi:type="dcterms:W3CDTF">2022-03-24T18:20:08Z</dcterms:modified>
</cp:coreProperties>
</file>